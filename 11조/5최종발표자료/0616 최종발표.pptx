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retendard Bold"/>
      <p:bold r:id="rId23"/>
    </p:embeddedFont>
    <p:embeddedFont>
      <p:font typeface="Pretendard Light"/>
      <p:regular r:id="rId24"/>
    </p:embeddedFont>
    <p:embeddedFont>
      <p:font typeface="Pretendard Medium"/>
      <p:bold r:id="rId25"/>
    </p:embeddedFont>
    <p:embeddedFont>
      <p:font typeface="Pretendard Regular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25" Target="fonts/font3.fntdata" Type="http://schemas.openxmlformats.org/officeDocument/2006/relationships/font"/><Relationship Id="rId26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26.png" Type="http://schemas.openxmlformats.org/officeDocument/2006/relationships/image"/><Relationship Id="rId8" Target="../media/image24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247900" y="3975100"/>
            <a:ext cx="14033500" cy="160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서버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비용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분석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최적화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도구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cloud computing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5900" y="2921000"/>
            <a:ext cx="121031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클라우드</a:t>
            </a:r>
            <a:r>
              <a:rPr lang="en-US" sz="9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false" i="false" u="none" strike="noStrike">
                <a:solidFill>
                  <a:srgbClr val="000000"/>
                </a:solidFill>
                <a:ea typeface="Pretendard Bold"/>
              </a:rPr>
              <a:t>컴퓨팅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0800" y="7645400"/>
            <a:ext cx="9982200" cy="1054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인터넷을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통해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서버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,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저장공간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,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소프트웨어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같은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IT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자원을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직접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구축하지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않고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빌려서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사용하는</a:t>
            </a:r>
            <a:r>
              <a:rPr lang="en-US" sz="3200" b="false" i="false" u="none" strike="noStrike">
                <a:solidFill>
                  <a:srgbClr val="C2C2C2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C2C2C2"/>
                </a:solidFill>
                <a:ea typeface="Pretendard Medium"/>
              </a:rPr>
              <a:t>기술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8500" y="3822700"/>
            <a:ext cx="6172200" cy="347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37300" y="3517900"/>
            <a:ext cx="6172200" cy="411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4038600"/>
            <a:ext cx="5270500" cy="3263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7100" y="3492500"/>
            <a:ext cx="8978900" cy="4013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0" y="2730500"/>
            <a:ext cx="7073900" cy="5537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cloud computing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300" y="8953500"/>
            <a:ext cx="40005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: 2023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년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정보화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통계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조사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8483600" cy="9423400"/>
          </a:xfrm>
          <a:prstGeom prst="rect">
            <a:avLst/>
          </a:prstGeom>
          <a:effectLst>
            <a:outerShdw dir="4020000" dist="326398" blurRad="896557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34500" y="431800"/>
            <a:ext cx="8483600" cy="9423400"/>
          </a:xfrm>
          <a:prstGeom prst="rect">
            <a:avLst/>
          </a:prstGeom>
          <a:effectLst>
            <a:outerShdw dir="4020000" dist="326398" blurRad="896557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171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5500" y="1968500"/>
            <a:ext cx="7810500" cy="247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0100" y="5232400"/>
            <a:ext cx="7810500" cy="2984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45900" y="698500"/>
            <a:ext cx="3873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news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9500" y="2489200"/>
            <a:ext cx="71882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비용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높음</a:t>
            </a:r>
          </a:p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2024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년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CloudZero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조사에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따르면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, 58%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기업이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자사의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클라우드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비용이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'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너무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높다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'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고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응답했습니다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31400" y="5588000"/>
            <a:ext cx="7188200" cy="281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비용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가시성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부족</a:t>
            </a:r>
          </a:p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2024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년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CloudZero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조사에서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89%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직원이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클라우드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비용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가시성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부족이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업무에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영향을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준다고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답했습니다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. </a:t>
            </a:r>
          </a:p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엔지니어와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재무팀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모두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비용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관리의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어려움을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호소하고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있습니다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8483600" cy="9423400"/>
          </a:xfrm>
          <a:prstGeom prst="rect">
            <a:avLst/>
          </a:prstGeom>
          <a:effectLst>
            <a:outerShdw dir="4020000" dist="326398" blurRad="896557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34500" y="431800"/>
            <a:ext cx="8483600" cy="9423400"/>
          </a:xfrm>
          <a:prstGeom prst="rect">
            <a:avLst/>
          </a:prstGeom>
          <a:effectLst>
            <a:outerShdw dir="4020000" dist="326398" blurRad="896557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171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6680200"/>
            <a:ext cx="7810500" cy="127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0100" y="1460500"/>
            <a:ext cx="7810500" cy="4241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45900" y="698500"/>
            <a:ext cx="3873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news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3000" y="5867400"/>
            <a:ext cx="71882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Accenture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에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의하면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,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평균적으로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기업들은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클라우드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지출의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30%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를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낭비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09200" y="3403600"/>
            <a:ext cx="71882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유휴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리소스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사용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/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필요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이상의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사이즈</a:t>
            </a:r>
            <a:r>
              <a:rPr lang="en-US" sz="3000" b="false" i="false" u="none" strike="noStrike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494A4E"/>
                </a:solidFill>
                <a:ea typeface="Pretendard Medium"/>
              </a:rPr>
              <a:t>이용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65400" y="3886200"/>
            <a:ext cx="5194300" cy="2921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0100" y="3619500"/>
            <a:ext cx="4025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유휴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리소스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2800" y="4711700"/>
            <a:ext cx="4025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인스턴스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사이즈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추천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3800" y="5842000"/>
            <a:ext cx="5715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가시성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개선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39200" y="6908800"/>
            <a:ext cx="5715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통합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클라우드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63800" y="1714500"/>
            <a:ext cx="12687300" cy="7785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solution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572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82800" y="1879600"/>
            <a:ext cx="6172200" cy="378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02800" y="1828800"/>
            <a:ext cx="6172200" cy="378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59000" y="5753100"/>
            <a:ext cx="6172200" cy="378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740900" y="5676900"/>
            <a:ext cx="6172200" cy="3784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result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565400" y="3454400"/>
          <a:ext cx="13144500" cy="4229100"/>
        </p:xfrm>
        <a:graphic>
          <a:graphicData uri="http://schemas.openxmlformats.org/drawingml/2006/table">
            <a:tbl>
              <a:tblPr/>
              <a:tblGrid>
                <a:gridCol w="1930400"/>
                <a:gridCol w="5092700"/>
                <a:gridCol w="6121400"/>
              </a:tblGrid>
              <a:tr h="8255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항목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기존</a:t>
                      </a:r>
                      <a:r>
                        <a:rPr lang="en-US" sz="18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800" b="false" i="false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솔루션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18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(AWS Cost Explorer)</a:t>
                      </a:r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제안</a:t>
                      </a:r>
                      <a:r>
                        <a:rPr lang="en-US" sz="18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800" b="false" i="false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도구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분석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포인트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비용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위주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리소스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사용량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기반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절감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포인트까지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분석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실시간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대응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x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리소스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급등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알림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전송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사용자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친화성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복잡한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UI,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설정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필요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간편한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설정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다양한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클라우드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지원</a:t>
                      </a:r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x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o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Differentiation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18500" y="2159000"/>
            <a:ext cx="1765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old"/>
              </a:rPr>
              <a:t>차별점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572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19500" y="1828800"/>
            <a:ext cx="12103100" cy="7366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572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74900" y="1778000"/>
            <a:ext cx="13449300" cy="7467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13100" y="2120900"/>
            <a:ext cx="11823700" cy="7251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명세서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2273300"/>
            <a:ext cx="12166600" cy="68072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Flow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86000" y="2311400"/>
            <a:ext cx="13550900" cy="6756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Flow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92400" y="1739900"/>
            <a:ext cx="12865100" cy="7899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ERD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445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098800" y="2070100"/>
            <a:ext cx="12065000" cy="7404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kanban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